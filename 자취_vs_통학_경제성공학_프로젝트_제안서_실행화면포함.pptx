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57C7"/>
                </a:solidFill>
              </a:rPr>
              <a:t>PROBLEM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</a:rPr>
              <a:t>자취 vs 통학은 월세 비교가 아니라 시간·현금흐름·선호가 결합된 의사결정 문제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2471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6675"/>
                </a:solidFill>
              </a:rPr>
              <a:t>산업공학과 학생의 실제 거주 선택을 경제성공학과 AHP로 정량화해 설명 가능한 추천으로 연결한다.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3474720" cy="3886200"/>
          </a:xfrm>
          <a:prstGeom prst="roundRect">
            <a:avLst>
              <a:gd name="adj" fmla="val 2105"/>
            </a:avLst>
          </a:prstGeom>
          <a:solidFill>
            <a:srgbClr val="FDECEC"/>
          </a:solidFill>
          <a:ln w="12700">
            <a:solidFill>
              <a:srgbClr val="F3B6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38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4A4A"/>
                </a:solidFill>
              </a:rPr>
              <a:t>문제 제기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2569464"/>
            <a:ext cx="64008" cy="64008"/>
          </a:xfrm>
          <a:prstGeom prst="ellipse">
            <a:avLst/>
          </a:prstGeom>
          <a:solidFill>
            <a:srgbClr val="E24A4A"/>
          </a:solidFill>
          <a:ln w="12700">
            <a:solidFill>
              <a:srgbClr val="E24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4984" y="2487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72033"/>
                </a:solidFill>
              </a:rPr>
              <a:t>자취 여부를 월세와 통학 피로감 정도로 직관 판단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868680" y="3072384"/>
            <a:ext cx="64008" cy="64008"/>
          </a:xfrm>
          <a:prstGeom prst="ellipse">
            <a:avLst/>
          </a:prstGeom>
          <a:solidFill>
            <a:srgbClr val="E24A4A"/>
          </a:solidFill>
          <a:ln w="12700">
            <a:solidFill>
              <a:srgbClr val="E24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" y="2990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72033"/>
                </a:solidFill>
              </a:rPr>
              <a:t>보증금, 이사비, 식비, 관리비, 교통비가 따로 놀아 총비용 비교가 어려움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868680" y="3575304"/>
            <a:ext cx="64008" cy="64008"/>
          </a:xfrm>
          <a:prstGeom prst="ellipse">
            <a:avLst/>
          </a:prstGeom>
          <a:solidFill>
            <a:srgbClr val="E24A4A"/>
          </a:solidFill>
          <a:ln w="12700">
            <a:solidFill>
              <a:srgbClr val="E24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4984" y="34930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72033"/>
                </a:solidFill>
              </a:rPr>
              <a:t>통학 시간은 실제 손실인데 비용 계산에서 빠지기 쉬움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68680" y="4078224"/>
            <a:ext cx="64008" cy="64008"/>
          </a:xfrm>
          <a:prstGeom prst="ellipse">
            <a:avLst/>
          </a:prstGeom>
          <a:solidFill>
            <a:srgbClr val="E24A4A"/>
          </a:solidFill>
          <a:ln w="12700">
            <a:solidFill>
              <a:srgbClr val="E24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4984" y="39959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72033"/>
                </a:solidFill>
              </a:rPr>
              <a:t>사람마다 비용·시간·편의성·안전 선호가 달라 같은 답을 낼 수 없음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4343400" y="1691640"/>
            <a:ext cx="3566160" cy="38862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9385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73"/>
                </a:solidFill>
              </a:rPr>
              <a:t>핵심 질문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17720" y="2423160"/>
            <a:ext cx="29260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“현 거주지 통학과 학교 근처 자취 중 4년 기준으로 무엇이 더 합리적인가?”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617720" y="3566160"/>
            <a:ext cx="290779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3968496"/>
            <a:ext cx="64008" cy="64008"/>
          </a:xfrm>
          <a:prstGeom prst="ellipse">
            <a:avLst/>
          </a:prstGeom>
          <a:solidFill>
            <a:srgbClr val="2557C7"/>
          </a:solidFill>
          <a:ln w="12700">
            <a:solidFill>
              <a:srgbClr val="2557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64024" y="3886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72033"/>
                </a:solidFill>
              </a:rPr>
              <a:t>분석기간: 4년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4617720" y="4315968"/>
            <a:ext cx="64008" cy="64008"/>
          </a:xfrm>
          <a:prstGeom prst="ellipse">
            <a:avLst/>
          </a:prstGeom>
          <a:solidFill>
            <a:srgbClr val="2557C7"/>
          </a:solidFill>
          <a:ln w="12700">
            <a:solidFill>
              <a:srgbClr val="2557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64024" y="42336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72033"/>
                </a:solidFill>
              </a:rPr>
              <a:t>대안: 현 거주지 통학 vs 자취 매물 후보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4617720" y="4663440"/>
            <a:ext cx="64008" cy="64008"/>
          </a:xfrm>
          <a:prstGeom prst="ellipse">
            <a:avLst/>
          </a:prstGeom>
          <a:solidFill>
            <a:srgbClr val="2557C7"/>
          </a:solidFill>
          <a:ln w="12700">
            <a:solidFill>
              <a:srgbClr val="2557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64024" y="45811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72033"/>
                </a:solidFill>
              </a:rPr>
              <a:t>비용: 초기비용 + 연간운영비 + 시간손실 - 잔존가치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4617720" y="5010912"/>
            <a:ext cx="64008" cy="64008"/>
          </a:xfrm>
          <a:prstGeom prst="ellipse">
            <a:avLst/>
          </a:prstGeom>
          <a:solidFill>
            <a:srgbClr val="2557C7"/>
          </a:solidFill>
          <a:ln w="12700">
            <a:solidFill>
              <a:srgbClr val="2557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64024" y="492861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72033"/>
                </a:solidFill>
              </a:rPr>
              <a:t>의사결정: NPV/AEC + AHP + 예산 제약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8183880" y="1691640"/>
            <a:ext cx="3337560" cy="3886200"/>
          </a:xfrm>
          <a:prstGeom prst="roundRect">
            <a:avLst>
              <a:gd name="adj" fmla="val 2192"/>
            </a:avLst>
          </a:prstGeom>
          <a:solidFill>
            <a:srgbClr val="EAF1FF"/>
          </a:solidFill>
          <a:ln w="12700">
            <a:solidFill>
              <a:srgbClr val="C8D8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39912" y="1938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57C7"/>
                </a:solidFill>
              </a:rPr>
              <a:t>데이터 수집처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458200" y="2514600"/>
            <a:ext cx="26517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13648" y="2587752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57C7"/>
                </a:solidFill>
              </a:rPr>
              <a:t>자취방 시세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528048" y="2596896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5D6675"/>
                </a:solidFill>
              </a:rPr>
              <a:t>보증금·월세·관리비·좌표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8458200" y="3172968"/>
            <a:ext cx="26517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13648" y="3246120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57C7"/>
                </a:solidFill>
              </a:rPr>
              <a:t>가계부/통계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528048" y="3255264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5D6675"/>
                </a:solidFill>
              </a:rPr>
              <a:t>식비·공과금·생활비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8458200" y="3831336"/>
            <a:ext cx="26517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13648" y="3904488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57C7"/>
                </a:solidFill>
              </a:rPr>
              <a:t>알바 시급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528048" y="3913632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5D6675"/>
                </a:solidFill>
              </a:rPr>
              <a:t>시간가치 환산</a:t>
            </a:r>
            <a:endParaRPr lang="en-US" sz="830" dirty="0"/>
          </a:p>
        </p:txBody>
      </p:sp>
      <p:sp>
        <p:nvSpPr>
          <p:cNvPr id="38" name="Shape 36"/>
          <p:cNvSpPr/>
          <p:nvPr/>
        </p:nvSpPr>
        <p:spPr>
          <a:xfrm>
            <a:off x="8458200" y="4489704"/>
            <a:ext cx="26517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13648" y="4562856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57C7"/>
                </a:solidFill>
              </a:rPr>
              <a:t>주소/교통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528048" y="4572000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30" dirty="0">
                <a:solidFill>
                  <a:srgbClr val="5D6675"/>
                </a:solidFill>
              </a:rPr>
              <a:t>현 거주지·통학시간</a:t>
            </a:r>
            <a:endParaRPr lang="en-US" sz="830" dirty="0"/>
          </a:p>
        </p:txBody>
      </p:sp>
      <p:sp>
        <p:nvSpPr>
          <p:cNvPr id="41" name="Shape 39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654710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675"/>
                </a:solidFill>
              </a:rPr>
              <a:t>산업공학 경제성공학 기말 프로젝트 제안서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D6675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57C7"/>
                </a:solidFill>
              </a:rPr>
              <a:t>METHOD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</a:rPr>
              <a:t>통학 시간의 기회비용을 현금흐름에 넣고, 개인 성향은 AHP 가중치로 반영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2471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6675"/>
                </a:solidFill>
              </a:rPr>
              <a:t>단순 추천 점수가 아니라 NPV·AEC·손익분기 월세·민감도 분석으로 의사결정 근거를 제시한다.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627632"/>
            <a:ext cx="516636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73"/>
                </a:solidFill>
              </a:rPr>
              <a:t>경제성공학 모델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0392" y="2331720"/>
          <a:ext cx="4663440" cy="1828800"/>
        </p:xfrm>
        <a:graphic>
          <a:graphicData uri="http://schemas.openxmlformats.org/drawingml/2006/table">
            <a:tbl>
              <a:tblPr/>
              <a:tblGrid>
                <a:gridCol w="822960"/>
                <a:gridCol w="1828800"/>
                <a:gridCol w="20116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720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81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720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통학</a:t>
                      </a:r>
                      <a:endParaRPr lang="en-US" sz="81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720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자취</a:t>
                      </a:r>
                      <a:endParaRPr lang="en-US" sz="81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720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초기비용</a:t>
                      </a:r>
                      <a:endParaRPr lang="en-US" sz="81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720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81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720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보증금 + 이사비</a:t>
                      </a:r>
                      <a:endParaRPr lang="en-US" sz="81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720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운영비</a:t>
                      </a:r>
                      <a:endParaRPr lang="en-US" sz="81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720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교통비 + 추가 식비</a:t>
                      </a:r>
                      <a:endParaRPr lang="en-US" sz="81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720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월세 + 관리비 + 식비 + 교통비</a:t>
                      </a:r>
                      <a:endParaRPr lang="en-US" sz="81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720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시간비용</a:t>
                      </a:r>
                      <a:endParaRPr lang="en-US" sz="81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720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왕복 통학시간 × 등교일수 × 시급</a:t>
                      </a:r>
                      <a:endParaRPr lang="en-US" sz="81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720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학교까지 왕복시간 × 등교일수 × 시급</a:t>
                      </a:r>
                      <a:endParaRPr lang="en-US" sz="81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720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잔존가치</a:t>
                      </a:r>
                      <a:endParaRPr lang="en-US" sz="81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720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81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0" dirty="0">
                          <a:solidFill>
                            <a:srgbClr val="1720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4년 후 보증금 회수</a:t>
                      </a:r>
                      <a:endParaRPr lang="en-US" sz="81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>
                    <a:lnL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68680" y="4498848"/>
            <a:ext cx="4480560" cy="658368"/>
          </a:xfrm>
          <a:prstGeom prst="roundRect">
            <a:avLst>
              <a:gd name="adj" fmla="val 8333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3272" y="4654296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2557C7"/>
                </a:solidFill>
              </a:rPr>
              <a:t>시간손실비용 = 편도시간 × 2 × 월 등교일수 × 최저시급 ÷ 60</a:t>
            </a:r>
            <a:endParaRPr lang="en-US" sz="1040" dirty="0"/>
          </a:p>
        </p:txBody>
      </p:sp>
      <p:sp>
        <p:nvSpPr>
          <p:cNvPr id="10" name="Text 7"/>
          <p:cNvSpPr/>
          <p:nvPr/>
        </p:nvSpPr>
        <p:spPr>
          <a:xfrm>
            <a:off x="1033272" y="4901184"/>
            <a:ext cx="4160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D6675"/>
                </a:solidFill>
              </a:rPr>
              <a:t>2026년 최저임금 10,320원/시간 기준. NPV/AEC 계산에 포함.</a:t>
            </a:r>
            <a:endParaRPr lang="en-US" sz="840" dirty="0"/>
          </a:p>
        </p:txBody>
      </p:sp>
      <p:sp>
        <p:nvSpPr>
          <p:cNvPr id="11" name="Text 8"/>
          <p:cNvSpPr/>
          <p:nvPr/>
        </p:nvSpPr>
        <p:spPr>
          <a:xfrm>
            <a:off x="896112" y="5422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72033"/>
                </a:solidFill>
              </a:rPr>
              <a:t>NPV = 초기비용 + Σ(연간비용/(1+i)^t) - 보증금/(1+i)^4</a:t>
            </a:r>
            <a:endParaRPr lang="en-US" sz="940" dirty="0"/>
          </a:p>
        </p:txBody>
      </p:sp>
      <p:sp>
        <p:nvSpPr>
          <p:cNvPr id="12" name="Text 9"/>
          <p:cNvSpPr/>
          <p:nvPr/>
        </p:nvSpPr>
        <p:spPr>
          <a:xfrm>
            <a:off x="896112" y="568756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033"/>
                </a:solidFill>
              </a:rPr>
              <a:t>AEC = NPV를 매년 같은 금액으로 환산한 연등가비용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6035040" y="1627632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E9F8F1"/>
          </a:solidFill>
          <a:ln w="12700">
            <a:solidFill>
              <a:srgbClr val="BEE6D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27648" y="1874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8A63"/>
                </a:solidFill>
              </a:rPr>
              <a:t>개인화 의사결정 로직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327648" y="23317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72033"/>
                </a:solidFill>
              </a:rPr>
              <a:t>성향 프리셋 + 직접 조정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6345936" y="2697480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5D6675"/>
                </a:solidFill>
              </a:rPr>
              <a:t>비용</a:t>
            </a:r>
            <a:endParaRPr lang="en-US" sz="860" dirty="0"/>
          </a:p>
        </p:txBody>
      </p:sp>
      <p:sp>
        <p:nvSpPr>
          <p:cNvPr id="17" name="Shape 14"/>
          <p:cNvSpPr/>
          <p:nvPr/>
        </p:nvSpPr>
        <p:spPr>
          <a:xfrm>
            <a:off x="6345936" y="2926080"/>
            <a:ext cx="932688" cy="109728"/>
          </a:xfrm>
          <a:prstGeom prst="rect">
            <a:avLst/>
          </a:prstGeom>
          <a:solidFill>
            <a:srgbClr val="D2D8E2"/>
          </a:solidFill>
          <a:ln w="12700">
            <a:solidFill>
              <a:srgbClr val="D2D8E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45936" y="2926080"/>
            <a:ext cx="820765" cy="109728"/>
          </a:xfrm>
          <a:prstGeom prst="rect">
            <a:avLst/>
          </a:prstGeom>
          <a:solidFill>
            <a:srgbClr val="E24A4A"/>
          </a:solidFill>
          <a:ln w="12700">
            <a:solidFill>
              <a:srgbClr val="E24A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45936" y="3127248"/>
            <a:ext cx="9326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E24A4A"/>
                </a:solidFill>
              </a:rPr>
              <a:t>44%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7552944" y="2697480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5D6675"/>
                </a:solidFill>
              </a:rPr>
              <a:t>시간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7552944" y="2926080"/>
            <a:ext cx="932688" cy="109728"/>
          </a:xfrm>
          <a:prstGeom prst="rect">
            <a:avLst/>
          </a:prstGeom>
          <a:solidFill>
            <a:srgbClr val="D2D8E2"/>
          </a:solidFill>
          <a:ln w="12700">
            <a:solidFill>
              <a:srgbClr val="D2D8E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552944" y="2926080"/>
            <a:ext cx="410383" cy="109728"/>
          </a:xfrm>
          <a:prstGeom prst="rect">
            <a:avLst/>
          </a:prstGeom>
          <a:solidFill>
            <a:srgbClr val="E24A4A"/>
          </a:solidFill>
          <a:ln w="12700">
            <a:solidFill>
              <a:srgbClr val="E24A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52944" y="3127248"/>
            <a:ext cx="9326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E24A4A"/>
                </a:solidFill>
              </a:rPr>
              <a:t>22%</a:t>
            </a:r>
            <a:endParaRPr lang="en-US" sz="820" dirty="0"/>
          </a:p>
        </p:txBody>
      </p:sp>
      <p:sp>
        <p:nvSpPr>
          <p:cNvPr id="24" name="Text 21"/>
          <p:cNvSpPr/>
          <p:nvPr/>
        </p:nvSpPr>
        <p:spPr>
          <a:xfrm>
            <a:off x="8759952" y="2697480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5D6675"/>
                </a:solidFill>
              </a:rPr>
              <a:t>편의성</a:t>
            </a:r>
            <a:endParaRPr lang="en-US" sz="860" dirty="0"/>
          </a:p>
        </p:txBody>
      </p:sp>
      <p:sp>
        <p:nvSpPr>
          <p:cNvPr id="25" name="Shape 22"/>
          <p:cNvSpPr/>
          <p:nvPr/>
        </p:nvSpPr>
        <p:spPr>
          <a:xfrm>
            <a:off x="8759952" y="2926080"/>
            <a:ext cx="932688" cy="109728"/>
          </a:xfrm>
          <a:prstGeom prst="rect">
            <a:avLst/>
          </a:prstGeom>
          <a:solidFill>
            <a:srgbClr val="D2D8E2"/>
          </a:solidFill>
          <a:ln w="12700">
            <a:solidFill>
              <a:srgbClr val="D2D8E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759952" y="2926080"/>
            <a:ext cx="410383" cy="109728"/>
          </a:xfrm>
          <a:prstGeom prst="rect">
            <a:avLst/>
          </a:prstGeom>
          <a:solidFill>
            <a:srgbClr val="E24A4A"/>
          </a:solidFill>
          <a:ln w="12700">
            <a:solidFill>
              <a:srgbClr val="E24A4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759952" y="3127248"/>
            <a:ext cx="9326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E24A4A"/>
                </a:solidFill>
              </a:rPr>
              <a:t>22%</a:t>
            </a:r>
            <a:endParaRPr lang="en-US" sz="820" dirty="0"/>
          </a:p>
        </p:txBody>
      </p:sp>
      <p:sp>
        <p:nvSpPr>
          <p:cNvPr id="28" name="Text 25"/>
          <p:cNvSpPr/>
          <p:nvPr/>
        </p:nvSpPr>
        <p:spPr>
          <a:xfrm>
            <a:off x="9966960" y="2697480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5D6675"/>
                </a:solidFill>
              </a:rPr>
              <a:t>안전</a:t>
            </a:r>
            <a:endParaRPr lang="en-US" sz="860" dirty="0"/>
          </a:p>
        </p:txBody>
      </p:sp>
      <p:sp>
        <p:nvSpPr>
          <p:cNvPr id="29" name="Shape 26"/>
          <p:cNvSpPr/>
          <p:nvPr/>
        </p:nvSpPr>
        <p:spPr>
          <a:xfrm>
            <a:off x="9966960" y="2926080"/>
            <a:ext cx="932688" cy="109728"/>
          </a:xfrm>
          <a:prstGeom prst="rect">
            <a:avLst/>
          </a:prstGeom>
          <a:solidFill>
            <a:srgbClr val="D2D8E2"/>
          </a:solidFill>
          <a:ln w="12700">
            <a:solidFill>
              <a:srgbClr val="D2D8E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966960" y="2926080"/>
            <a:ext cx="205191" cy="109728"/>
          </a:xfrm>
          <a:prstGeom prst="rect">
            <a:avLst/>
          </a:prstGeom>
          <a:solidFill>
            <a:srgbClr val="E24A4A"/>
          </a:solidFill>
          <a:ln w="12700">
            <a:solidFill>
              <a:srgbClr val="E24A4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966960" y="3127248"/>
            <a:ext cx="9326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E24A4A"/>
                </a:solidFill>
              </a:rPr>
              <a:t>11%</a:t>
            </a:r>
            <a:endParaRPr lang="en-US" sz="820" dirty="0"/>
          </a:p>
        </p:txBody>
      </p:sp>
      <p:sp>
        <p:nvSpPr>
          <p:cNvPr id="32" name="Shape 29"/>
          <p:cNvSpPr/>
          <p:nvPr/>
        </p:nvSpPr>
        <p:spPr>
          <a:xfrm>
            <a:off x="6327648" y="3785616"/>
            <a:ext cx="64008" cy="64008"/>
          </a:xfrm>
          <a:prstGeom prst="ellipse">
            <a:avLst/>
          </a:prstGeom>
          <a:solidFill>
            <a:srgbClr val="138A63"/>
          </a:solidFill>
          <a:ln w="12700">
            <a:solidFill>
              <a:srgbClr val="138A6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73952" y="370332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72033"/>
                </a:solidFill>
              </a:rPr>
              <a:t>비용 중시형/균형형/편의 중시형/시간 중시형/안전 중시형 프리셋 제공</a:t>
            </a:r>
            <a:endParaRPr lang="en-US" sz="960" dirty="0"/>
          </a:p>
        </p:txBody>
      </p:sp>
      <p:sp>
        <p:nvSpPr>
          <p:cNvPr id="34" name="Shape 31"/>
          <p:cNvSpPr/>
          <p:nvPr/>
        </p:nvSpPr>
        <p:spPr>
          <a:xfrm>
            <a:off x="6327648" y="4169664"/>
            <a:ext cx="64008" cy="64008"/>
          </a:xfrm>
          <a:prstGeom prst="ellipse">
            <a:avLst/>
          </a:prstGeom>
          <a:solidFill>
            <a:srgbClr val="138A63"/>
          </a:solidFill>
          <a:ln w="12700">
            <a:solidFill>
              <a:srgbClr val="138A6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73952" y="4087368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72033"/>
                </a:solidFill>
              </a:rPr>
              <a:t>AHP 종합점수 = 경제성점수×비용가중치 + 시간점수×시간가중치 + 편의점수×편의가중치 + 안전점수×안전가중치</a:t>
            </a:r>
            <a:endParaRPr lang="en-US" sz="960" dirty="0"/>
          </a:p>
        </p:txBody>
      </p:sp>
      <p:sp>
        <p:nvSpPr>
          <p:cNvPr id="36" name="Shape 33"/>
          <p:cNvSpPr/>
          <p:nvPr/>
        </p:nvSpPr>
        <p:spPr>
          <a:xfrm>
            <a:off x="6327648" y="4553712"/>
            <a:ext cx="64008" cy="64008"/>
          </a:xfrm>
          <a:prstGeom prst="ellipse">
            <a:avLst/>
          </a:prstGeom>
          <a:solidFill>
            <a:srgbClr val="138A63"/>
          </a:solidFill>
          <a:ln w="12700">
            <a:solidFill>
              <a:srgbClr val="138A6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73952" y="4471416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72033"/>
                </a:solidFill>
              </a:rPr>
              <a:t>월 예산 초과 대안은 추천 점수에서 패널티 적용</a:t>
            </a:r>
            <a:endParaRPr lang="en-US" sz="960" dirty="0"/>
          </a:p>
        </p:txBody>
      </p:sp>
      <p:sp>
        <p:nvSpPr>
          <p:cNvPr id="38" name="Shape 35"/>
          <p:cNvSpPr/>
          <p:nvPr/>
        </p:nvSpPr>
        <p:spPr>
          <a:xfrm>
            <a:off x="6327648" y="4937760"/>
            <a:ext cx="64008" cy="64008"/>
          </a:xfrm>
          <a:prstGeom prst="ellipse">
            <a:avLst/>
          </a:prstGeom>
          <a:solidFill>
            <a:srgbClr val="138A63"/>
          </a:solidFill>
          <a:ln w="12700">
            <a:solidFill>
              <a:srgbClr val="138A6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73952" y="4855464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72033"/>
                </a:solidFill>
              </a:rPr>
              <a:t>월세·금리·시간가치 변화에 따른 추천 대안 변화를 민감도 분석으로 확인</a:t>
            </a:r>
            <a:endParaRPr lang="en-US" sz="960" dirty="0"/>
          </a:p>
        </p:txBody>
      </p:sp>
      <p:sp>
        <p:nvSpPr>
          <p:cNvPr id="40" name="Shape 37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02920" y="654710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675"/>
                </a:solidFill>
              </a:rPr>
              <a:t>산업공학 경제성공학 기말 프로젝트 제안서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D6675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57C7"/>
                </a:solidFill>
              </a:rPr>
              <a:t>PROTOTYPE RESULT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64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33"/>
                </a:solidFill>
              </a:rPr>
              <a:t>실제 프로토타입 실행 결과: 대치현대아파트, 월 예산 90만원, 균형형 기준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2471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D6675"/>
                </a:solidFill>
              </a:rPr>
              <a:t>사용자가 주소와 예산, 의사결정 성향을 입력하면 추천 방식과 경제성 지표가 즉시 산출된다.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572768"/>
            <a:ext cx="5486400" cy="4645152"/>
          </a:xfrm>
          <a:prstGeom prst="roundRect">
            <a:avLst>
              <a:gd name="adj" fmla="val 1575"/>
            </a:avLst>
          </a:prstGeom>
          <a:solidFill>
            <a:srgbClr val="11151D"/>
          </a:solidFill>
          <a:ln w="12700">
            <a:solidFill>
              <a:srgbClr val="3038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105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등교 방식 추천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dirty="0">
                <a:solidFill>
                  <a:srgbClr val="FFFFFF"/>
                </a:solidFill>
              </a:rPr>
              <a:t>현 거주지 검색</a:t>
            </a:r>
            <a:endParaRPr lang="en-US" sz="770" dirty="0"/>
          </a:p>
        </p:txBody>
      </p:sp>
      <p:sp>
        <p:nvSpPr>
          <p:cNvPr id="8" name="Shape 6"/>
          <p:cNvSpPr/>
          <p:nvPr/>
        </p:nvSpPr>
        <p:spPr>
          <a:xfrm>
            <a:off x="868680" y="2532888"/>
            <a:ext cx="3456432" cy="310896"/>
          </a:xfrm>
          <a:prstGeom prst="roundRect">
            <a:avLst>
              <a:gd name="adj" fmla="val 23529"/>
            </a:avLst>
          </a:prstGeom>
          <a:solidFill>
            <a:srgbClr val="2A2E3A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606040"/>
            <a:ext cx="18288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</a:rPr>
              <a:t>대치현대아파트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4526280" y="2331720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월 최대 사용 가능 비용(만원)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4526280" y="2532888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2A2E3A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606040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</a:rPr>
              <a:t>90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868680" y="3063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의사결정 성향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68680" y="340156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A2E3A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4747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균형형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77824" y="3886200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BFC7D5"/>
                </a:solidFill>
              </a:rPr>
              <a:t>반영 가중치: 비용 44%, 시간 22%, 편의성 22%, 안전 11%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868680" y="4251960"/>
            <a:ext cx="4663440" cy="402336"/>
          </a:xfrm>
          <a:prstGeom prst="roundRect">
            <a:avLst>
              <a:gd name="adj" fmla="val 18182"/>
            </a:avLst>
          </a:prstGeom>
          <a:solidFill>
            <a:srgbClr val="123E2A"/>
          </a:solidFill>
          <a:ln w="12700">
            <a:solidFill>
              <a:srgbClr val="123E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4370832"/>
            <a:ext cx="4206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6F4E4"/>
                </a:solidFill>
              </a:rPr>
              <a:t>선택 위치: 대치현대아파트 / 서울 강남구 삼성로64길 5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68680" y="4828032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E8E2CC"/>
          </a:solidFill>
          <a:ln w="12700">
            <a:solidFill>
              <a:srgbClr val="E8E2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873752"/>
            <a:ext cx="594360" cy="777240"/>
          </a:xfrm>
          <a:prstGeom prst="line">
            <a:avLst/>
          </a:prstGeom>
          <a:noFill/>
          <a:ln w="12700">
            <a:solidFill>
              <a:srgbClr val="D0917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00200" y="4873752"/>
            <a:ext cx="594360" cy="777240"/>
          </a:xfrm>
          <a:prstGeom prst="line">
            <a:avLst/>
          </a:prstGeom>
          <a:noFill/>
          <a:ln w="12700">
            <a:solidFill>
              <a:srgbClr val="B2C4A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4873752"/>
            <a:ext cx="594360" cy="777240"/>
          </a:xfrm>
          <a:prstGeom prst="line">
            <a:avLst/>
          </a:prstGeom>
          <a:noFill/>
          <a:ln w="12700">
            <a:solidFill>
              <a:srgbClr val="D0917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4873752"/>
            <a:ext cx="594360" cy="777240"/>
          </a:xfrm>
          <a:prstGeom prst="line">
            <a:avLst/>
          </a:prstGeom>
          <a:noFill/>
          <a:ln w="12700">
            <a:solidFill>
              <a:srgbClr val="B2C4A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4873752"/>
            <a:ext cx="594360" cy="777240"/>
          </a:xfrm>
          <a:prstGeom prst="line">
            <a:avLst/>
          </a:prstGeom>
          <a:noFill/>
          <a:ln w="12700">
            <a:solidFill>
              <a:srgbClr val="D0917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43400" y="4873752"/>
            <a:ext cx="594360" cy="777240"/>
          </a:xfrm>
          <a:prstGeom prst="line">
            <a:avLst/>
          </a:prstGeom>
          <a:noFill/>
          <a:ln w="12700">
            <a:solidFill>
              <a:srgbClr val="B2C4A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0" y="4873752"/>
            <a:ext cx="594360" cy="777240"/>
          </a:xfrm>
          <a:prstGeom prst="line">
            <a:avLst/>
          </a:prstGeom>
          <a:noFill/>
          <a:ln w="12700">
            <a:solidFill>
              <a:srgbClr val="D0917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71800" y="5230368"/>
            <a:ext cx="201168" cy="201168"/>
          </a:xfrm>
          <a:prstGeom prst="ellipse">
            <a:avLst/>
          </a:prstGeom>
          <a:solidFill>
            <a:srgbClr val="E24A4A"/>
          </a:solidFill>
          <a:ln w="12700">
            <a:solidFill>
              <a:srgbClr val="E24A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5010912"/>
            <a:ext cx="201168" cy="201168"/>
          </a:xfrm>
          <a:prstGeom prst="ellipse">
            <a:avLst/>
          </a:prstGeom>
          <a:solidFill>
            <a:srgbClr val="79BDED"/>
          </a:solidFill>
          <a:ln w="12700">
            <a:solidFill>
              <a:srgbClr val="79BD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5596128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1151D"/>
                </a:solidFill>
              </a:rPr>
              <a:t>지도에서 거주지/학교 위치 확인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6327648" y="1572768"/>
            <a:ext cx="5257800" cy="4645152"/>
          </a:xfrm>
          <a:prstGeom prst="roundRect">
            <a:avLst>
              <a:gd name="adj" fmla="val 157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1810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추천 결과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583680" y="228600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D6675"/>
                </a:solidFill>
              </a:rPr>
              <a:t>추천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6583680" y="24688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</a:rPr>
              <a:t>대치현대... 통학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8138160" y="228600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D6675"/>
                </a:solidFill>
              </a:rPr>
              <a:t>월 현금지출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8138160" y="24688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</a:rPr>
              <a:t>16만원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9281160" y="228600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D6675"/>
                </a:solidFill>
              </a:rPr>
              <a:t>월 시간손실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9281160" y="24688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E24A4A"/>
                </a:solidFill>
              </a:rPr>
              <a:t>36만원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10424160" y="22860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D6675"/>
                </a:solidFill>
              </a:rPr>
              <a:t>월 실질비용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10424160" y="2468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557C7"/>
                </a:solidFill>
              </a:rPr>
              <a:t>52만원</a:t>
            </a:r>
            <a:endParaRPr lang="en-US" sz="1900" dirty="0"/>
          </a:p>
        </p:txBody>
      </p:sp>
      <p:sp>
        <p:nvSpPr>
          <p:cNvPr id="40" name="Shape 38"/>
          <p:cNvSpPr/>
          <p:nvPr/>
        </p:nvSpPr>
        <p:spPr>
          <a:xfrm>
            <a:off x="6583680" y="3090672"/>
            <a:ext cx="4434840" cy="347472"/>
          </a:xfrm>
          <a:prstGeom prst="roundRect">
            <a:avLst>
              <a:gd name="adj" fmla="val 21053"/>
            </a:avLst>
          </a:prstGeom>
          <a:solidFill>
            <a:srgbClr val="E9F8F1"/>
          </a:solidFill>
          <a:ln w="12700">
            <a:solidFill>
              <a:srgbClr val="E9F8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20840" y="3200400"/>
            <a:ext cx="4114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38A63"/>
                </a:solidFill>
              </a:rPr>
              <a:t>현재 입력 조건에서는 자취보다 현 거주지 통학이 더 적합합니다.</a:t>
            </a:r>
            <a:endParaRPr lang="en-US" sz="860" dirty="0"/>
          </a:p>
        </p:txBody>
      </p:sp>
      <p:sp>
        <p:nvSpPr>
          <p:cNvPr id="42" name="Text 40"/>
          <p:cNvSpPr/>
          <p:nvPr/>
        </p:nvSpPr>
        <p:spPr>
          <a:xfrm>
            <a:off x="6583680" y="37033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경제성 공학 비교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583680" y="413308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D6675"/>
                </a:solidFill>
              </a:rPr>
              <a:t>통학 AEC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6583680" y="43159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</a:rPr>
              <a:t>628만원/년</a:t>
            </a:r>
            <a:endParaRPr lang="en-US" sz="1900" dirty="0"/>
          </a:p>
        </p:txBody>
      </p:sp>
      <p:sp>
        <p:nvSpPr>
          <p:cNvPr id="45" name="Text 43"/>
          <p:cNvSpPr/>
          <p:nvPr/>
        </p:nvSpPr>
        <p:spPr>
          <a:xfrm>
            <a:off x="8183880" y="413308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D6675"/>
                </a:solidFill>
              </a:rPr>
              <a:t>최저 자취 AEC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8183880" y="431596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</a:rPr>
              <a:t>1480만원/년</a:t>
            </a:r>
            <a:endParaRPr lang="en-US" sz="1900" dirty="0"/>
          </a:p>
        </p:txBody>
      </p:sp>
      <p:sp>
        <p:nvSpPr>
          <p:cNvPr id="47" name="Text 45"/>
          <p:cNvSpPr/>
          <p:nvPr/>
        </p:nvSpPr>
        <p:spPr>
          <a:xfrm>
            <a:off x="9875520" y="4133088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D6675"/>
                </a:solidFill>
              </a:rPr>
              <a:t>AEC 차이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9875520" y="431596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E24A4A"/>
                </a:solidFill>
              </a:rPr>
              <a:t>852만원/년</a:t>
            </a:r>
            <a:endParaRPr lang="en-US" sz="1900" dirty="0"/>
          </a:p>
        </p:txBody>
      </p:sp>
      <p:sp>
        <p:nvSpPr>
          <p:cNvPr id="49" name="Shape 47"/>
          <p:cNvSpPr/>
          <p:nvPr/>
        </p:nvSpPr>
        <p:spPr>
          <a:xfrm>
            <a:off x="6583680" y="4965192"/>
            <a:ext cx="4434840" cy="420624"/>
          </a:xfrm>
          <a:prstGeom prst="roundRect">
            <a:avLst>
              <a:gd name="adj" fmla="val 17391"/>
            </a:avLst>
          </a:prstGeom>
          <a:solidFill>
            <a:srgbClr val="FFF5D6"/>
          </a:solidFill>
          <a:ln w="12700">
            <a:solidFill>
              <a:srgbClr val="FFF5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20840" y="5102352"/>
            <a:ext cx="4114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7A5B00"/>
                </a:solidFill>
              </a:rPr>
              <a:t>봉천역 반지하 F는 월세가 0만원이어도 통학보다 경제적으로 불리</a:t>
            </a:r>
            <a:endParaRPr lang="en-US" sz="840" dirty="0"/>
          </a:p>
        </p:txBody>
      </p:sp>
      <p:sp>
        <p:nvSpPr>
          <p:cNvPr id="51" name="Shape 49"/>
          <p:cNvSpPr/>
          <p:nvPr/>
        </p:nvSpPr>
        <p:spPr>
          <a:xfrm>
            <a:off x="6629400" y="5836920"/>
            <a:ext cx="384048" cy="60960"/>
          </a:xfrm>
          <a:prstGeom prst="rect">
            <a:avLst/>
          </a:prstGeom>
          <a:solidFill>
            <a:srgbClr val="F5A0A7"/>
          </a:solidFill>
          <a:ln w="12700">
            <a:solidFill>
              <a:srgbClr val="F5A0A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629400" y="5699760"/>
            <a:ext cx="384048" cy="137160"/>
          </a:xfrm>
          <a:prstGeom prst="rect">
            <a:avLst/>
          </a:prstGeom>
          <a:solidFill>
            <a:srgbClr val="79BDED"/>
          </a:solidFill>
          <a:ln w="12700">
            <a:solidFill>
              <a:srgbClr val="79BD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56248" y="5943600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dirty="0">
                <a:solidFill>
                  <a:srgbClr val="5D6675"/>
                </a:solidFill>
              </a:rPr>
              <a:t>통학</a:t>
            </a:r>
            <a:endParaRPr lang="en-US" sz="670" dirty="0"/>
          </a:p>
        </p:txBody>
      </p:sp>
      <p:sp>
        <p:nvSpPr>
          <p:cNvPr id="54" name="Shape 52"/>
          <p:cNvSpPr/>
          <p:nvPr/>
        </p:nvSpPr>
        <p:spPr>
          <a:xfrm>
            <a:off x="7470648" y="5482590"/>
            <a:ext cx="384048" cy="415290"/>
          </a:xfrm>
          <a:prstGeom prst="rect">
            <a:avLst/>
          </a:prstGeom>
          <a:solidFill>
            <a:srgbClr val="F5A0A7"/>
          </a:solidFill>
          <a:ln w="12700">
            <a:solidFill>
              <a:srgbClr val="F5A0A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470648" y="5429250"/>
            <a:ext cx="384048" cy="53340"/>
          </a:xfrm>
          <a:prstGeom prst="rect">
            <a:avLst/>
          </a:prstGeom>
          <a:solidFill>
            <a:srgbClr val="79BDED"/>
          </a:solidFill>
          <a:ln w="12700">
            <a:solidFill>
              <a:srgbClr val="79BD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97496" y="5943600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dirty="0">
                <a:solidFill>
                  <a:srgbClr val="5D6675"/>
                </a:solidFill>
              </a:rPr>
              <a:t>녹두</a:t>
            </a:r>
            <a:endParaRPr lang="en-US" sz="670" dirty="0"/>
          </a:p>
        </p:txBody>
      </p:sp>
      <p:sp>
        <p:nvSpPr>
          <p:cNvPr id="57" name="Shape 55"/>
          <p:cNvSpPr/>
          <p:nvPr/>
        </p:nvSpPr>
        <p:spPr>
          <a:xfrm>
            <a:off x="8311896" y="5501640"/>
            <a:ext cx="384048" cy="396240"/>
          </a:xfrm>
          <a:prstGeom prst="rect">
            <a:avLst/>
          </a:prstGeom>
          <a:solidFill>
            <a:srgbClr val="F5A0A7"/>
          </a:solidFill>
          <a:ln w="12700">
            <a:solidFill>
              <a:srgbClr val="F5A0A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311896" y="5436870"/>
            <a:ext cx="384048" cy="64770"/>
          </a:xfrm>
          <a:prstGeom prst="rect">
            <a:avLst/>
          </a:prstGeom>
          <a:solidFill>
            <a:srgbClr val="79BDED"/>
          </a:solidFill>
          <a:ln w="12700">
            <a:solidFill>
              <a:srgbClr val="79BD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238744" y="5943600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dirty="0">
                <a:solidFill>
                  <a:srgbClr val="5D6675"/>
                </a:solidFill>
              </a:rPr>
              <a:t>봉천</a:t>
            </a:r>
            <a:endParaRPr lang="en-US" sz="670" dirty="0"/>
          </a:p>
        </p:txBody>
      </p:sp>
      <p:sp>
        <p:nvSpPr>
          <p:cNvPr id="60" name="Shape 58"/>
          <p:cNvSpPr/>
          <p:nvPr/>
        </p:nvSpPr>
        <p:spPr>
          <a:xfrm>
            <a:off x="9153144" y="5330190"/>
            <a:ext cx="384048" cy="567690"/>
          </a:xfrm>
          <a:prstGeom prst="rect">
            <a:avLst/>
          </a:prstGeom>
          <a:solidFill>
            <a:srgbClr val="F5A0A7"/>
          </a:solidFill>
          <a:ln w="12700">
            <a:solidFill>
              <a:srgbClr val="F5A0A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153144" y="5261610"/>
            <a:ext cx="384048" cy="68580"/>
          </a:xfrm>
          <a:prstGeom prst="rect">
            <a:avLst/>
          </a:prstGeom>
          <a:solidFill>
            <a:srgbClr val="79BDED"/>
          </a:solidFill>
          <a:ln w="12700">
            <a:solidFill>
              <a:srgbClr val="79BDE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079992" y="5943600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dirty="0">
                <a:solidFill>
                  <a:srgbClr val="5D6675"/>
                </a:solidFill>
              </a:rPr>
              <a:t>사당</a:t>
            </a:r>
            <a:endParaRPr lang="en-US" sz="670" dirty="0"/>
          </a:p>
        </p:txBody>
      </p:sp>
      <p:sp>
        <p:nvSpPr>
          <p:cNvPr id="63" name="Shape 61"/>
          <p:cNvSpPr/>
          <p:nvPr/>
        </p:nvSpPr>
        <p:spPr>
          <a:xfrm>
            <a:off x="9994392" y="5463540"/>
            <a:ext cx="384048" cy="434340"/>
          </a:xfrm>
          <a:prstGeom prst="rect">
            <a:avLst/>
          </a:prstGeom>
          <a:solidFill>
            <a:srgbClr val="F5A0A7"/>
          </a:solidFill>
          <a:ln w="12700">
            <a:solidFill>
              <a:srgbClr val="F5A0A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994392" y="5375910"/>
            <a:ext cx="384048" cy="87630"/>
          </a:xfrm>
          <a:prstGeom prst="rect">
            <a:avLst/>
          </a:prstGeom>
          <a:solidFill>
            <a:srgbClr val="79BDED"/>
          </a:solidFill>
          <a:ln w="12700">
            <a:solidFill>
              <a:srgbClr val="79BD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921240" y="5943600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dirty="0">
                <a:solidFill>
                  <a:srgbClr val="5D6675"/>
                </a:solidFill>
              </a:rPr>
              <a:t>신대방</a:t>
            </a:r>
            <a:endParaRPr lang="en-US" sz="670" dirty="0"/>
          </a:p>
        </p:txBody>
      </p:sp>
      <p:sp>
        <p:nvSpPr>
          <p:cNvPr id="66" name="Text 64"/>
          <p:cNvSpPr/>
          <p:nvPr/>
        </p:nvSpPr>
        <p:spPr>
          <a:xfrm>
            <a:off x="6629400" y="5532120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D6675"/>
                </a:solidFill>
              </a:rPr>
              <a:t>월 현금지출 + 월 시간손실비용 비교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02920" y="654710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675"/>
                </a:solidFill>
              </a:rPr>
              <a:t>산업공학 경제성공학 기말 프로젝트 제안서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11109960" y="6519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D6675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자취 vs 통학 의사결정 분석</dc:title>
  <dc:subject>자취 vs 통학 경제성공학 프로젝트 제안서</dc:subject>
  <dc:creator>Codex</dc:creator>
  <cp:lastModifiedBy>Codex</cp:lastModifiedBy>
  <cp:revision>1</cp:revision>
  <dcterms:created xsi:type="dcterms:W3CDTF">2026-05-06T15:59:25Z</dcterms:created>
  <dcterms:modified xsi:type="dcterms:W3CDTF">2026-05-06T15:59:25Z</dcterms:modified>
</cp:coreProperties>
</file>